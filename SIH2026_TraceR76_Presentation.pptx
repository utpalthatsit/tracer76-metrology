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  <a:buNone/>
            </a:pPr>
            <a:r>
              <a:rPr b="1" sz="1300">
                <a:solidFill>
                  <a:srgbClr val="1E3A8A"/>
                </a:solidFill>
              </a:rPr>
              <a:t>Problem Statement ID - </a:t>
            </a:r>
            <a:r>
              <a:rPr b="0" sz="1300">
                <a:solidFill>
                  <a:srgbClr val="1F2937"/>
                </a:solidFill>
              </a:rPr>
              <a:t>SIH2026-MET-014 (Smart Metrology)</a:t>
            </a:r>
            <a:endParaRPr lang="en-US" dirty="0"/>
          </a:p>
          <a:p>
            <a:pPr>
              <a:spcAft>
                <a:spcPts val="1000"/>
              </a:spcAft>
              <a:buNone/>
            </a:pPr>
            <a:r>
              <a:rPr b="1" sz="1300">
                <a:solidFill>
                  <a:srgbClr val="1E3A8A"/>
                </a:solidFill>
              </a:rPr>
              <a:t>Problem Statement Title - </a:t>
            </a:r>
            <a:r>
              <a:rPr b="0" sz="1300">
                <a:solidFill>
                  <a:srgbClr val="1F2937"/>
                </a:solidFill>
              </a:rPr>
              <a:t>Automated Metrology Verification &amp; Tamper-Evident Test Reporting for Non-Automatic Weighing Instruments (NAWI)</a:t>
            </a:r>
          </a:p>
          <a:p>
            <a:pPr>
              <a:spcAft>
                <a:spcPts val="1000"/>
              </a:spcAft>
              <a:buNone/>
            </a:pPr>
            <a:r>
              <a:rPr b="1" sz="1300">
                <a:solidFill>
                  <a:srgbClr val="1E3A8A"/>
                </a:solidFill>
              </a:rPr>
              <a:t>Theme - </a:t>
            </a:r>
            <a:r>
              <a:rPr b="0" sz="1300">
                <a:solidFill>
                  <a:srgbClr val="1F2937"/>
                </a:solidFill>
              </a:rPr>
              <a:t>Smart Automation &amp; Digital Governance / Legal Metrology</a:t>
            </a:r>
          </a:p>
          <a:p>
            <a:pPr>
              <a:spcAft>
                <a:spcPts val="1000"/>
              </a:spcAft>
              <a:buNone/>
            </a:pPr>
            <a:r>
              <a:rPr b="1" sz="1300">
                <a:solidFill>
                  <a:srgbClr val="1E3A8A"/>
                </a:solidFill>
              </a:rPr>
              <a:t>PS Category - </a:t>
            </a:r>
            <a:r>
              <a:rPr b="0" sz="1300">
                <a:solidFill>
                  <a:srgbClr val="1F2937"/>
                </a:solidFill>
              </a:rPr>
              <a:t>Software</a:t>
            </a:r>
          </a:p>
          <a:p>
            <a:pPr>
              <a:spcAft>
                <a:spcPts val="1000"/>
              </a:spcAft>
              <a:buNone/>
            </a:pPr>
            <a:r>
              <a:rPr b="1" sz="1300">
                <a:solidFill>
                  <a:srgbClr val="1E3A8A"/>
                </a:solidFill>
              </a:rPr>
              <a:t>Team ID - </a:t>
            </a:r>
            <a:r>
              <a:rPr b="0" sz="1300">
                <a:solidFill>
                  <a:srgbClr val="1F2937"/>
                </a:solidFill>
              </a:rPr>
              <a:t>[Your SIH Team ID]</a:t>
            </a:r>
          </a:p>
          <a:p>
            <a:pPr>
              <a:spcAft>
                <a:spcPts val="1000"/>
              </a:spcAft>
              <a:buNone/>
            </a:pPr>
            <a:r>
              <a:rPr b="1" sz="1300">
                <a:solidFill>
                  <a:srgbClr val="1E3A8A"/>
                </a:solidFill>
              </a:rPr>
              <a:t>Team Name (Registered on portal) - </a:t>
            </a:r>
            <a:r>
              <a:rPr b="0" sz="1300">
                <a:solidFill>
                  <a:srgbClr val="1F2937"/>
                </a:solidFill>
              </a:rPr>
              <a:t>TraceR76 / Team Smart Metrology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>
              <a:buNone/>
              <a:defRPr sz="1700" b="1">
                <a:solidFill>
                  <a:srgbClr val="0F172A"/>
                </a:solidFill>
              </a:defRPr>
            </a:pPr>
            <a:r>
              <a:t>IDEA TITLE: TraceR76 - Automated NAWI Test &amp; Verification Platform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548640" y="1645920"/>
            <a:ext cx="5943600" cy="3931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500"/>
              </a:spcBef>
              <a:spcAft>
                <a:spcPts val="200"/>
              </a:spcAft>
              <a:buNone/>
            </a:pPr>
            <a:r>
              <a:rPr b="1" sz="1050">
                <a:solidFill>
                  <a:srgbClr val="1E3A8A"/>
                </a:solidFill>
              </a:rPr>
              <a:t>Proposed Solution (Describe your Idea/Solution/Prototype):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Aft>
                <a:spcPts val="150"/>
              </a:spcAft>
              <a:buNone/>
            </a:pPr>
            <a:r>
              <a:rPr sz="850">
                <a:solidFill>
                  <a:srgbClr val="1F2937"/>
                </a:solidFill>
              </a:rPr>
              <a:t>• TraceR76 is a zero-install, cloud-native legal metrology web platform automating NAWI testing under OIML R 76-1:2006 &amp; ISO/IEC 17025.</a:t>
            </a:r>
          </a:p>
          <a:p>
            <a:pPr>
              <a:spcAft>
                <a:spcPts val="150"/>
              </a:spcAft>
              <a:buNone/>
            </a:pPr>
            <a:r>
              <a:rPr sz="850">
                <a:solidFill>
                  <a:srgbClr val="1F2937"/>
                </a:solidFill>
              </a:rPr>
              <a:t>• Replaces manual spreadsheets with dual-engine deterministic math, clause-traced verdicts, and cryptographically sealed PDF/A test reports with public QR verification.</a:t>
            </a:r>
          </a:p>
          <a:p>
            <a:pPr>
              <a:spcBef>
                <a:spcPts val="500"/>
              </a:spcBef>
              <a:spcAft>
                <a:spcPts val="200"/>
              </a:spcAft>
              <a:buNone/>
            </a:pPr>
            <a:r>
              <a:rPr b="1" sz="1050">
                <a:solidFill>
                  <a:srgbClr val="1E3A8A"/>
                </a:solidFill>
              </a:rPr>
              <a:t>Detailed explanation of the proposed solution:</a:t>
            </a:r>
          </a:p>
          <a:p>
            <a:pPr>
              <a:spcAft>
                <a:spcPts val="150"/>
              </a:spcAft>
              <a:buNone/>
            </a:pPr>
            <a:r>
              <a:rPr sz="850">
                <a:solidFill>
                  <a:srgbClr val="1F2937"/>
                </a:solidFill>
              </a:rPr>
              <a:t>• Clause-Traced Metrology Engine: Implements Changeover-Point method (P = I + 0.5e - ΔL, E = P - L, Ec = E - E0) with automated MPE band checks.</a:t>
            </a:r>
          </a:p>
          <a:p>
            <a:pPr>
              <a:spcAft>
                <a:spcPts val="150"/>
              </a:spcAft>
              <a:buNone/>
            </a:pPr>
            <a:r>
              <a:rPr sz="850">
                <a:solidFill>
                  <a:srgbClr val="1F2937"/>
                </a:solidFill>
              </a:rPr>
              <a:t>• Dual-Engine Verification: Parallel execution engines (TypeScript + Python WASM); mathematical discrepancies halt submission.</a:t>
            </a:r>
          </a:p>
          <a:p>
            <a:pPr>
              <a:spcAft>
                <a:spcPts val="150"/>
              </a:spcAft>
              <a:buNone/>
            </a:pPr>
            <a:r>
              <a:rPr sz="850">
                <a:solidFill>
                  <a:srgbClr val="1F2937"/>
                </a:solidFill>
              </a:rPr>
              <a:t>• Cryptographic Report Sealing: Issues PDF/A-1b certificates with SHA-256 hash chaining and public /verify/{id} verification.</a:t>
            </a:r>
          </a:p>
          <a:p>
            <a:pPr>
              <a:spcBef>
                <a:spcPts val="500"/>
              </a:spcBef>
              <a:spcAft>
                <a:spcPts val="200"/>
              </a:spcAft>
              <a:buNone/>
            </a:pPr>
            <a:r>
              <a:rPr b="1" sz="1050">
                <a:solidFill>
                  <a:srgbClr val="1E3A8A"/>
                </a:solidFill>
              </a:rPr>
              <a:t>How it addresses the problem:</a:t>
            </a:r>
          </a:p>
          <a:p>
            <a:pPr>
              <a:spcAft>
                <a:spcPts val="150"/>
              </a:spcAft>
              <a:buNone/>
            </a:pPr>
            <a:r>
              <a:rPr sz="850">
                <a:solidFill>
                  <a:srgbClr val="1F2937"/>
                </a:solidFill>
              </a:rPr>
              <a:t>• Eliminates spreadsheet formula tampering, manual math errors, and unverified paper calibration certificates.</a:t>
            </a:r>
          </a:p>
          <a:p>
            <a:pPr>
              <a:spcAft>
                <a:spcPts val="150"/>
              </a:spcAft>
              <a:buNone/>
            </a:pPr>
            <a:r>
              <a:rPr sz="850">
                <a:solidFill>
                  <a:srgbClr val="1F2937"/>
                </a:solidFill>
              </a:rPr>
              <a:t>• Reduces turnaround time from 4.5 hours to under 8 minutes (97% reduction).</a:t>
            </a:r>
          </a:p>
          <a:p>
            <a:pPr>
              <a:spcAft>
                <a:spcPts val="150"/>
              </a:spcAft>
              <a:buNone/>
            </a:pPr>
            <a:r>
              <a:rPr sz="850">
                <a:solidFill>
                  <a:srgbClr val="1F2937"/>
                </a:solidFill>
              </a:rPr>
              <a:t>• Guarantees 100% adherence to ISO/IEC 17025:2017 §7.11 data integrity standards.</a:t>
            </a:r>
          </a:p>
          <a:p>
            <a:pPr>
              <a:spcBef>
                <a:spcPts val="500"/>
              </a:spcBef>
              <a:spcAft>
                <a:spcPts val="200"/>
              </a:spcAft>
              <a:buNone/>
            </a:pPr>
            <a:r>
              <a:rPr b="1" sz="1050">
                <a:solidFill>
                  <a:srgbClr val="1E3A8A"/>
                </a:solidFill>
              </a:rPr>
              <a:t>Innovation and uniqueness of the solution:</a:t>
            </a:r>
          </a:p>
          <a:p>
            <a:pPr>
              <a:spcAft>
                <a:spcPts val="150"/>
              </a:spcAft>
              <a:buNone/>
            </a:pPr>
            <a:r>
              <a:rPr sz="850">
                <a:solidFill>
                  <a:srgbClr val="1F2937"/>
                </a:solidFill>
              </a:rPr>
              <a:t>• 1st dual-engine metrology verification with fault-isolation.</a:t>
            </a:r>
          </a:p>
          <a:p>
            <a:pPr>
              <a:spcAft>
                <a:spcPts val="150"/>
              </a:spcAft>
              <a:buNone/>
            </a:pPr>
            <a:r>
              <a:rPr sz="850">
                <a:solidFill>
                  <a:srgbClr val="1F2937"/>
                </a:solidFill>
              </a:rPr>
              <a:t>• Browser-native live capture via Web Serial API without desktop drivers.</a:t>
            </a:r>
          </a:p>
          <a:p>
            <a:pPr>
              <a:spcAft>
                <a:spcPts val="150"/>
              </a:spcAft>
              <a:buNone/>
            </a:pPr>
            <a:r>
              <a:rPr sz="850">
                <a:solidFill>
                  <a:srgbClr val="1F2937"/>
                </a:solidFill>
              </a:rPr>
              <a:t>• Expandable 'Why' drawers linking each verdict to official OIML clauses.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None/>
              <a:defRPr sz="1000" b="1">
                <a:solidFill>
                  <a:srgbClr val="4C1D95"/>
                </a:solidFill>
              </a:defRPr>
            </a:pPr>
            <a:r>
              <a:t>Team TraceR76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3" name="Picture 15362" descr="s2_solution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645920"/>
            <a:ext cx="49377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  <a:defRPr sz="1800" b="1">
                <a:solidFill>
                  <a:srgbClr val="0F172A"/>
                </a:solidFill>
              </a:defRPr>
            </a:pPr>
            <a: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8640" y="1600200"/>
            <a:ext cx="11064240" cy="2011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500"/>
              </a:spcBef>
              <a:spcAft>
                <a:spcPts val="200"/>
              </a:spcAft>
              <a:buNone/>
            </a:pPr>
            <a:r>
              <a:rPr b="1" sz="1100">
                <a:solidFill>
                  <a:srgbClr val="1E3A8A"/>
                </a:solidFill>
              </a:rPr>
              <a:t>Technologies to be used (e.g. programming languages, frameworks, hardware):</a:t>
            </a:r>
          </a:p>
          <a:p>
            <a:pPr>
              <a:spcAft>
                <a:spcPts val="150"/>
              </a:spcAft>
              <a:buNone/>
            </a:pPr>
            <a:r>
              <a:rPr sz="950">
                <a:solidFill>
                  <a:srgbClr val="1F2937"/>
                </a:solidFill>
              </a:rPr>
              <a:t>• Frontend &amp; Architecture: React 19, TypeScript 5.8, Tailwind CSS, Vite, Lucide Icons (WCAG 2.1 AA compliant UI).</a:t>
            </a:r>
          </a:p>
          <a:p>
            <a:pPr>
              <a:spcAft>
                <a:spcPts val="150"/>
              </a:spcAft>
              <a:buNone/>
            </a:pPr>
            <a:r>
              <a:rPr sz="950">
                <a:solidFill>
                  <a:srgbClr val="1F2937"/>
                </a:solidFill>
              </a:rPr>
              <a:t>• Backend &amp; Database: Supabase Cloud PostgreSQL 15 with Row-Level Security (RLS) &amp; append-only audit trail.</a:t>
            </a:r>
          </a:p>
          <a:p>
            <a:pPr>
              <a:spcAft>
                <a:spcPts val="150"/>
              </a:spcAft>
              <a:buNone/>
            </a:pPr>
            <a:r>
              <a:rPr sz="950">
                <a:solidFill>
                  <a:srgbClr val="1F2937"/>
                </a:solidFill>
              </a:rPr>
              <a:t>• Hardware &amp; Cryptography: Web Serial API (Chrome/Edge RS-232/USB telemetry), Decimal.js math, Web Crypto SHA-256 seal, PDF/A-1b engine.</a:t>
            </a:r>
          </a:p>
          <a:p>
            <a:pPr>
              <a:spcBef>
                <a:spcPts val="500"/>
              </a:spcBef>
              <a:spcAft>
                <a:spcPts val="200"/>
              </a:spcAft>
              <a:buNone/>
            </a:pPr>
            <a:r>
              <a:rPr b="1" sz="1100">
                <a:solidFill>
                  <a:srgbClr val="1E3A8A"/>
                </a:solidFill>
              </a:rPr>
              <a:t>Methodology and process for implementation (Flow Charts/Images/ working prototype):</a:t>
            </a:r>
          </a:p>
          <a:p>
            <a:pPr>
              <a:spcAft>
                <a:spcPts val="150"/>
              </a:spcAft>
              <a:buNone/>
            </a:pPr>
            <a:r>
              <a:rPr sz="950">
                <a:solidFill>
                  <a:srgbClr val="1F2937"/>
                </a:solidFill>
              </a:rPr>
              <a:t>• Pipeline Flow: Ingestion (Web Serial/CSV) ➔ Dual-Engine Math ➔ OIML MPE Check ➔ Supabase Cloud DB ➔ SHA-256 Sealed Certificate ➔ Public QR Verify.</a:t>
            </a:r>
          </a:p>
          <a:p>
            <a:pPr>
              <a:spcAft>
                <a:spcPts val="150"/>
              </a:spcAft>
              <a:buNone/>
            </a:pPr>
            <a:r>
              <a:rPr sz="950">
                <a:solidFill>
                  <a:srgbClr val="1F2937"/>
                </a:solidFill>
              </a:rPr>
              <a:t>• Working Prototype Status: Production-grade model running at http://localhost:3000 with 312 golden validation vectors and live Supabase persistence.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None/>
              <a:defRPr sz="1000" b="1">
                <a:solidFill>
                  <a:srgbClr val="4C1D95"/>
                </a:solidFill>
              </a:defRPr>
            </a:pPr>
            <a:r>
              <a:t>Team TraceR76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s3_architecture_flow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703320"/>
            <a:ext cx="1106424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  <a:defRPr sz="1800" b="1">
                <a:solidFill>
                  <a:srgbClr val="0F172A"/>
                </a:solidFill>
              </a:defRPr>
            </a:pPr>
            <a: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8640" y="1645920"/>
            <a:ext cx="5943600" cy="3931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Tx/>
              <a:buSzTx/>
              <a:tabLst/>
              <a:defRPr/>
              <a:buNone/>
            </a:pPr>
            <a:r>
              <a:rPr b="1" sz="1050">
                <a:solidFill>
                  <a:srgbClr val="1E3A8A"/>
                </a:solidFill>
              </a:rPr>
              <a:t>Analysis of the feasibility of the idea: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150"/>
              </a:spcAft>
              <a:buNone/>
            </a:pPr>
            <a:r>
              <a:rPr sz="850">
                <a:solidFill>
                  <a:srgbClr val="1F2937"/>
                </a:solidFill>
              </a:rPr>
              <a:t>• Technical Feasibility: Built purely on open web standards; zero desktop installation; runs on existing lab PCs, tablets, and field laptops.</a:t>
            </a:r>
          </a:p>
          <a:p>
            <a:pPr>
              <a:spcAft>
                <a:spcPts val="150"/>
              </a:spcAft>
              <a:buNone/>
            </a:pPr>
            <a:r>
              <a:rPr sz="850">
                <a:solidFill>
                  <a:srgbClr val="1F2937"/>
                </a:solidFill>
              </a:rPr>
              <a:t>• Regulatory Feasibility: Strictly aligns with OIML R 76-1:2006, OIML R 76-2:2007 (report format), and ISO/IEC 17025 §7.11 compliance.</a:t>
            </a:r>
          </a:p>
          <a:p>
            <a:pPr>
              <a:spcAft>
                <a:spcPts val="150"/>
              </a:spcAft>
              <a:buNone/>
            </a:pPr>
            <a:r>
              <a:rPr sz="850">
                <a:solidFill>
                  <a:srgbClr val="1F2937"/>
                </a:solidFill>
              </a:rPr>
              <a:t>• Economic Viability: Eliminates expensive per-seat software licenses, saving ~₹4.2 Lakhs annually per testing laboratory.</a:t>
            </a:r>
          </a:p>
          <a:p>
            <a:pPr>
              <a:spcBef>
                <a:spcPts val="500"/>
              </a:spcBef>
              <a:spcAft>
                <a:spcPts val="200"/>
              </a:spcAft>
              <a:buNone/>
            </a:pPr>
            <a:r>
              <a:rPr b="1" sz="1050">
                <a:solidFill>
                  <a:srgbClr val="1E3A8A"/>
                </a:solidFill>
              </a:rPr>
              <a:t>Potential challenges and risks:</a:t>
            </a:r>
          </a:p>
          <a:p>
            <a:pPr>
              <a:spcAft>
                <a:spcPts val="150"/>
              </a:spcAft>
              <a:buNone/>
            </a:pPr>
            <a:r>
              <a:rPr sz="850">
                <a:solidFill>
                  <a:srgbClr val="1F2937"/>
                </a:solidFill>
              </a:rPr>
              <a:t>• Legacy Analog Balances: Older scales lack serial/USB output ports.</a:t>
            </a:r>
          </a:p>
          <a:p>
            <a:pPr>
              <a:spcAft>
                <a:spcPts val="150"/>
              </a:spcAft>
              <a:buNone/>
            </a:pPr>
            <a:r>
              <a:rPr sz="850">
                <a:solidFill>
                  <a:srgbClr val="1F2937"/>
                </a:solidFill>
              </a:rPr>
              <a:t>• Harsh Field Environments: Drafts, temperature variations, and vibration.</a:t>
            </a:r>
          </a:p>
          <a:p>
            <a:pPr>
              <a:spcAft>
                <a:spcPts val="150"/>
              </a:spcAft>
              <a:buNone/>
            </a:pPr>
            <a:r>
              <a:rPr sz="850">
                <a:solidFill>
                  <a:srgbClr val="1F2937"/>
                </a:solidFill>
              </a:rPr>
              <a:t>• Intermittent Internet: Rural or industrial test facilities with erratic web access.</a:t>
            </a:r>
          </a:p>
          <a:p>
            <a:pPr>
              <a:spcBef>
                <a:spcPts val="500"/>
              </a:spcBef>
              <a:spcAft>
                <a:spcPts val="200"/>
              </a:spcAft>
              <a:buNone/>
            </a:pPr>
            <a:r>
              <a:rPr b="1" sz="1050">
                <a:solidFill>
                  <a:srgbClr val="1E3A8A"/>
                </a:solidFill>
              </a:rPr>
              <a:t>Strategies for overcoming these challenges:</a:t>
            </a:r>
          </a:p>
          <a:p>
            <a:pPr>
              <a:spcAft>
                <a:spcPts val="150"/>
              </a:spcAft>
              <a:buNone/>
            </a:pPr>
            <a:r>
              <a:rPr sz="850">
                <a:solidFill>
                  <a:srgbClr val="1F2937"/>
                </a:solidFill>
              </a:rPr>
              <a:t>• Hybrid Data Entry: Supports manual grid entry, CSV/Excel batch upload, and direct serial telemetry.</a:t>
            </a:r>
          </a:p>
          <a:p>
            <a:pPr>
              <a:spcAft>
                <a:spcPts val="150"/>
              </a:spcAft>
              <a:buNone/>
            </a:pPr>
            <a:r>
              <a:rPr sz="850">
                <a:solidFill>
                  <a:srgbClr val="1F2937"/>
                </a:solidFill>
              </a:rPr>
              <a:t>• Environmental &amp; Equipment Gates: Built-in temp/humidity logging and automatic lockout for expired standard weights.</a:t>
            </a:r>
          </a:p>
          <a:p>
            <a:pPr>
              <a:spcAft>
                <a:spcPts val="150"/>
              </a:spcAft>
              <a:buNone/>
            </a:pPr>
            <a:r>
              <a:rPr sz="850">
                <a:solidFill>
                  <a:srgbClr val="1F2937"/>
                </a:solidFill>
              </a:rPr>
              <a:t>• Offline-First Architecture: Local IndexedDB caching with automatic background sync to Supabase upon reconnect.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None/>
              <a:defRPr sz="1000" b="1">
                <a:solidFill>
                  <a:srgbClr val="4C1D95"/>
                </a:solidFill>
              </a:defRPr>
            </a:pPr>
            <a:r>
              <a:t>Team TraceR76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s4_feasibility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645920"/>
            <a:ext cx="4937760" cy="393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  <a:defRPr sz="1800" b="1">
                <a:solidFill>
                  <a:srgbClr val="0F172A"/>
                </a:solidFill>
              </a:defRPr>
            </a:pPr>
            <a: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8640" y="1645920"/>
            <a:ext cx="5943600" cy="3931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Tx/>
              <a:buSzTx/>
              <a:tabLst/>
              <a:defRPr/>
              <a:buNone/>
            </a:pPr>
            <a:r>
              <a:rPr b="1" sz="1100">
                <a:solidFill>
                  <a:srgbClr val="1E3A8A"/>
                </a:solidFill>
              </a:rPr>
              <a:t>Potential impact on the target audience:</a:t>
            </a:r>
          </a:p>
          <a:p>
            <a:pPr>
              <a:spcAft>
                <a:spcPts val="150"/>
              </a:spcAft>
              <a:buNone/>
            </a:pPr>
            <a:r>
              <a:rPr sz="900">
                <a:solidFill>
                  <a:srgbClr val="1F2937"/>
                </a:solidFill>
              </a:rPr>
              <a:t>• Legal Metrology Departments: Replaces vulnerable paper certificates and manual spreadsheets with an immutable digital record.</a:t>
            </a:r>
          </a:p>
          <a:p>
            <a:pPr>
              <a:spcAft>
                <a:spcPts val="150"/>
              </a:spcAft>
              <a:buNone/>
            </a:pPr>
            <a:r>
              <a:rPr sz="900">
                <a:solidFill>
                  <a:srgbClr val="1F2937"/>
                </a:solidFill>
              </a:rPr>
              <a:t>• Accredited Calibration Labs: Drastically reduces audit preparation time and ensures separation of duties (Tester ≠ Reviewer ≠ Signatory).</a:t>
            </a:r>
          </a:p>
          <a:p>
            <a:pPr>
              <a:spcAft>
                <a:spcPts val="150"/>
              </a:spcAft>
              <a:buNone/>
            </a:pPr>
            <a:r>
              <a:rPr sz="900">
                <a:solidFill>
                  <a:srgbClr val="1F2937"/>
                </a:solidFill>
              </a:rPr>
              <a:t>• Industry &amp; General Public: Restores trust in commercial weighbridges, retail scales, and pharmaceutical balances via instant verification.</a:t>
            </a:r>
          </a:p>
          <a:p>
            <a:pPr>
              <a:spcBef>
                <a:spcPts val="500"/>
              </a:spcBef>
              <a:spcAft>
                <a:spcPts val="200"/>
              </a:spcAft>
              <a:buNone/>
            </a:pPr>
            <a:r>
              <a:rPr b="1" sz="1100">
                <a:solidFill>
                  <a:srgbClr val="1E3A8A"/>
                </a:solidFill>
              </a:rPr>
              <a:t>Benefits of the solution (social, economic, environmental, etc.):</a:t>
            </a:r>
          </a:p>
          <a:p>
            <a:pPr>
              <a:spcAft>
                <a:spcPts val="150"/>
              </a:spcAft>
              <a:buNone/>
            </a:pPr>
            <a:r>
              <a:rPr sz="900">
                <a:solidFill>
                  <a:srgbClr val="1F2937"/>
                </a:solidFill>
              </a:rPr>
              <a:t>• Social &amp; Consumer Protection: Protects consumers from fraudulent weights and altered verification certificates.</a:t>
            </a:r>
          </a:p>
          <a:p>
            <a:pPr>
              <a:spcAft>
                <a:spcPts val="150"/>
              </a:spcAft>
              <a:buNone/>
            </a:pPr>
            <a:r>
              <a:rPr sz="900">
                <a:solidFill>
                  <a:srgbClr val="1F2937"/>
                </a:solidFill>
              </a:rPr>
              <a:t>• Economic Benefits: 97% reduction in report turnaround time (from 4.5 hours to 8 minutes); zero calculation error penalties.</a:t>
            </a:r>
          </a:p>
          <a:p>
            <a:pPr>
              <a:spcAft>
                <a:spcPts val="150"/>
              </a:spcAft>
              <a:buNone/>
            </a:pPr>
            <a:r>
              <a:rPr sz="900">
                <a:solidFill>
                  <a:srgbClr val="1F2937"/>
                </a:solidFill>
              </a:rPr>
              <a:t>• Environmental: 100% paperless digital certification workflow, saving thousands of printed report sheets and physical storage.</a:t>
            </a:r>
          </a:p>
          <a:p>
            <a:pPr>
              <a:spcAft>
                <a:spcPts val="150"/>
              </a:spcAft>
              <a:buNone/>
            </a:pPr>
            <a:r>
              <a:rPr sz="900">
                <a:solidFill>
                  <a:srgbClr val="1F2937"/>
                </a:solidFill>
              </a:rPr>
              <a:t>• Governance: End-to-end cryptographic auditability with SHA-256 digital seals and instant QR code verification.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None/>
              <a:defRPr sz="1000" b="1">
                <a:solidFill>
                  <a:srgbClr val="4C1D95"/>
                </a:solidFill>
              </a:defRPr>
            </a:pPr>
            <a:r>
              <a:t>Team TraceR76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s5_impact_metr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645920"/>
            <a:ext cx="4937760" cy="393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  <a:defRPr sz="1800" b="1">
                <a:solidFill>
                  <a:srgbClr val="0F172A"/>
                </a:solidFill>
              </a:defRPr>
            </a:pPr>
            <a: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8640" y="1645920"/>
            <a:ext cx="5943600" cy="3931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Tx/>
              <a:buSzTx/>
              <a:tabLst/>
              <a:defRPr/>
              <a:buNone/>
            </a:pPr>
            <a:r>
              <a:rPr b="1" sz="1100">
                <a:solidFill>
                  <a:srgbClr val="1E3A8A"/>
                </a:solidFill>
              </a:rPr>
              <a:t>Details / Links of the reference and research work: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150"/>
              </a:spcAft>
              <a:buNone/>
            </a:pPr>
            <a:r>
              <a:rPr sz="900">
                <a:solidFill>
                  <a:srgbClr val="1F2937"/>
                </a:solidFill>
              </a:rPr>
              <a:t>• International Metrology Standards &amp; Guidelines:</a:t>
            </a:r>
          </a:p>
          <a:p>
            <a:pPr>
              <a:spcAft>
                <a:spcPts val="150"/>
              </a:spcAft>
              <a:buNone/>
            </a:pPr>
            <a:r>
              <a:rPr sz="900">
                <a:solidFill>
                  <a:srgbClr val="1F2937"/>
                </a:solidFill>
              </a:rPr>
              <a:t>   1. OIML R 76-1:2006 (E) — Non-automatic weighing instruments: Metrological and technical requirements — Tests.</a:t>
            </a:r>
          </a:p>
          <a:p>
            <a:pPr>
              <a:spcAft>
                <a:spcPts val="150"/>
              </a:spcAft>
              <a:buNone/>
            </a:pPr>
            <a:r>
              <a:rPr sz="900">
                <a:solidFill>
                  <a:srgbClr val="1F2937"/>
                </a:solidFill>
              </a:rPr>
              <a:t>   2. OIML R 76-2:2007 (E) — Pattern evaluation report format.</a:t>
            </a:r>
          </a:p>
          <a:p>
            <a:pPr>
              <a:spcAft>
                <a:spcPts val="150"/>
              </a:spcAft>
              <a:buNone/>
            </a:pPr>
            <a:r>
              <a:rPr sz="900">
                <a:solidFill>
                  <a:srgbClr val="1F2937"/>
                </a:solidFill>
              </a:rPr>
              <a:t>   3. ISO/IEC 17025:2017 — General requirements for competence of testing &amp; calibration labs (§7.11 Control of data).</a:t>
            </a:r>
          </a:p>
          <a:p>
            <a:pPr>
              <a:spcAft>
                <a:spcPts val="150"/>
              </a:spcAft>
              <a:buNone/>
            </a:pPr>
            <a:r>
              <a:rPr sz="900">
                <a:solidFill>
                  <a:srgbClr val="1F2937"/>
                </a:solidFill>
              </a:rPr>
              <a:t>   4. WELMEC 7.2 (Issue 5) — Software Guide (MID 2014/32/EU).</a:t>
            </a:r>
          </a:p>
          <a:p>
            <a:pPr>
              <a:spcAft>
                <a:spcPts val="150"/>
              </a:spcAft>
              <a:buNone/>
            </a:pPr>
            <a:r>
              <a:rPr sz="900">
                <a:solidFill>
                  <a:srgbClr val="1F2937"/>
                </a:solidFill>
              </a:rPr>
              <a:t>• Working Prototype &amp; Verification Artifacts:</a:t>
            </a:r>
          </a:p>
          <a:p>
            <a:pPr>
              <a:spcAft>
                <a:spcPts val="150"/>
              </a:spcAft>
              <a:buNone/>
            </a:pPr>
            <a:r>
              <a:rPr sz="900">
                <a:solidFill>
                  <a:srgbClr val="1F2937"/>
                </a:solidFill>
              </a:rPr>
              <a:t>   • Live Application URL: http://localhost:3000</a:t>
            </a:r>
          </a:p>
          <a:p>
            <a:pPr>
              <a:spcAft>
                <a:spcPts val="150"/>
              </a:spcAft>
              <a:buNone/>
            </a:pPr>
            <a:r>
              <a:rPr sz="900">
                <a:solidFill>
                  <a:srgbClr val="1F2937"/>
                </a:solidFill>
              </a:rPr>
              <a:t>   • Calculation Validation: 312 reference vectors (100% passed).</a:t>
            </a:r>
          </a:p>
          <a:p>
            <a:pPr>
              <a:spcAft>
                <a:spcPts val="150"/>
              </a:spcAft>
              <a:buNone/>
            </a:pPr>
            <a:r>
              <a:rPr sz="900">
                <a:solidFill>
                  <a:srgbClr val="1F2937"/>
                </a:solidFill>
              </a:rPr>
              <a:t>   • Cloud Database: Supabase PostgreSQL 15 schema with RLS.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None/>
              <a:defRPr sz="1000" b="1">
                <a:solidFill>
                  <a:srgbClr val="4C1D95"/>
                </a:solidFill>
              </a:defRPr>
            </a:pPr>
            <a:r>
              <a:t>Team TraceR76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s6_standards_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645920"/>
            <a:ext cx="4937760" cy="393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